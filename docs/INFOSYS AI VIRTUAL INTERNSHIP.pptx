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 Bold Italics" charset="1" panose="00000800000000000000"/>
      <p:regular r:id="rId17"/>
    </p:embeddedFont>
    <p:embeddedFont>
      <p:font typeface="Glacial Indifference Bold" charset="1" panose="00000800000000000000"/>
      <p:regular r:id="rId18"/>
    </p:embeddedFont>
    <p:embeddedFont>
      <p:font typeface="HK Grotesk Italics" charset="1" panose="00000500000000000000"/>
      <p:regular r:id="rId19"/>
    </p:embeddedFont>
    <p:embeddedFont>
      <p:font typeface="HK Grotesk" charset="1" panose="00000500000000000000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79732" y="1249774"/>
            <a:ext cx="6328535" cy="5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i="true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INFOSYS AI VIRTUAL INTERNSHIP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51632" y="2754251"/>
            <a:ext cx="8984736" cy="28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MEETING SUMMARIZER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6061" y="6190816"/>
            <a:ext cx="4855878" cy="5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Dhanashree Borkar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017563" y="1028700"/>
            <a:ext cx="7270437" cy="7270437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24712" t="0" r="-247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79806" y="1066800"/>
            <a:ext cx="8239216" cy="89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b="true" sz="6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265" y="2666592"/>
            <a:ext cx="10636298" cy="523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Meetings generate hours of discussions, but most key points are lost or manually noted.</a:t>
            </a:r>
          </a:p>
          <a:p>
            <a:pPr algn="just">
              <a:lnSpc>
                <a:spcPts val="4147"/>
              </a:lnSpc>
            </a:pPr>
          </a:p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Key Points:</a:t>
            </a:r>
          </a:p>
          <a:p>
            <a:pPr algn="just" marL="639605" indent="-319803" lvl="1">
              <a:lnSpc>
                <a:spcPts val="4147"/>
              </a:lnSpc>
              <a:buAutoNum type="arabicPeriod" startAt="1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Manual note-taking is time-consuming and inaccurate.</a:t>
            </a:r>
          </a:p>
          <a:p>
            <a:pPr algn="just">
              <a:lnSpc>
                <a:spcPts val="4147"/>
              </a:lnSpc>
            </a:pPr>
          </a:p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2. Online meetings lack structured summaries.</a:t>
            </a:r>
          </a:p>
          <a:p>
            <a:pPr algn="just">
              <a:lnSpc>
                <a:spcPts val="4147"/>
              </a:lnSpc>
            </a:pPr>
          </a:p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3. Organizations need automated meeting documentation.</a:t>
            </a:r>
          </a:p>
          <a:p>
            <a:pPr algn="just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500831" y="1028700"/>
            <a:ext cx="4956202" cy="8229600"/>
          </a:xfrm>
          <a:custGeom>
            <a:avLst/>
            <a:gdLst/>
            <a:ahLst/>
            <a:cxnLst/>
            <a:rect r="r" b="b" t="t" l="l"/>
            <a:pathLst>
              <a:path h="8229600" w="4956202">
                <a:moveTo>
                  <a:pt x="4956202" y="0"/>
                </a:moveTo>
                <a:lnTo>
                  <a:pt x="0" y="0"/>
                </a:lnTo>
                <a:lnTo>
                  <a:pt x="0" y="8229600"/>
                </a:lnTo>
                <a:lnTo>
                  <a:pt x="4956202" y="8229600"/>
                </a:lnTo>
                <a:lnTo>
                  <a:pt x="495620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34959" y="4495653"/>
            <a:ext cx="6819789" cy="1239962"/>
          </a:xfrm>
          <a:custGeom>
            <a:avLst/>
            <a:gdLst/>
            <a:ahLst/>
            <a:cxnLst/>
            <a:rect r="r" b="b" t="t" l="l"/>
            <a:pathLst>
              <a:path h="1239962" w="6819789">
                <a:moveTo>
                  <a:pt x="0" y="0"/>
                </a:moveTo>
                <a:lnTo>
                  <a:pt x="6819789" y="0"/>
                </a:lnTo>
                <a:lnTo>
                  <a:pt x="6819789" y="1239961"/>
                </a:lnTo>
                <a:lnTo>
                  <a:pt x="0" y="12399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79575" y="1112376"/>
            <a:ext cx="5330557" cy="104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7056" y="2423363"/>
            <a:ext cx="10315595" cy="15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Build an AI-powered system that records speech, identifies speakers, transcribes the conversation, and generates concise summaries automatically.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9309" y="4848233"/>
            <a:ext cx="6311090" cy="5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Real-time Speech-to-Text conversion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34959" y="6221389"/>
            <a:ext cx="6819789" cy="1239962"/>
          </a:xfrm>
          <a:custGeom>
            <a:avLst/>
            <a:gdLst/>
            <a:ahLst/>
            <a:cxnLst/>
            <a:rect r="r" b="b" t="t" l="l"/>
            <a:pathLst>
              <a:path h="1239962" w="6819789">
                <a:moveTo>
                  <a:pt x="0" y="0"/>
                </a:moveTo>
                <a:lnTo>
                  <a:pt x="6819789" y="0"/>
                </a:lnTo>
                <a:lnTo>
                  <a:pt x="6819789" y="1239962"/>
                </a:lnTo>
                <a:lnTo>
                  <a:pt x="0" y="123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34959" y="7736703"/>
            <a:ext cx="6819789" cy="1239962"/>
          </a:xfrm>
          <a:custGeom>
            <a:avLst/>
            <a:gdLst/>
            <a:ahLst/>
            <a:cxnLst/>
            <a:rect r="r" b="b" t="t" l="l"/>
            <a:pathLst>
              <a:path h="1239962" w="6819789">
                <a:moveTo>
                  <a:pt x="0" y="0"/>
                </a:moveTo>
                <a:lnTo>
                  <a:pt x="6819789" y="0"/>
                </a:lnTo>
                <a:lnTo>
                  <a:pt x="6819789" y="1239962"/>
                </a:lnTo>
                <a:lnTo>
                  <a:pt x="0" y="1239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79575" y="6573814"/>
            <a:ext cx="6062771" cy="5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AI-based meeting summarization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5068" y="8061418"/>
            <a:ext cx="5759571" cy="5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Export summary via email or file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1778667"/>
          <a:ext cx="15707876" cy="7944760"/>
        </p:xfrm>
        <a:graphic>
          <a:graphicData uri="http://schemas.openxmlformats.org/drawingml/2006/table">
            <a:tbl>
              <a:tblPr/>
              <a:tblGrid>
                <a:gridCol w="8115935"/>
                <a:gridCol w="7591940"/>
              </a:tblGrid>
              <a:tr h="8613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Tools / Libraries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Programming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Speaker Diarization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Pyannote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STT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OpenAI Whisper, Vosk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Speaker Diarization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Pyannote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Summarization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Groq API, Hugging 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Backend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 Python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88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Virtualenv (.venv)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087559" y="278777"/>
            <a:ext cx="12112883" cy="104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TOOLS AND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22732" y="1438521"/>
          <a:ext cx="9473317" cy="3184178"/>
        </p:xfrm>
        <a:graphic>
          <a:graphicData uri="http://schemas.openxmlformats.org/drawingml/2006/table">
            <a:tbl>
              <a:tblPr/>
              <a:tblGrid>
                <a:gridCol w="9473317"/>
              </a:tblGrid>
              <a:tr h="31841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-472773" y="4931774"/>
            <a:ext cx="11464326" cy="67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b="true" sz="46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SPEAKER DIARIZATION (MILESTONE 2)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4568" y="5280262"/>
            <a:ext cx="10426289" cy="42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speaker_identifier.py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pyannote.audio integration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Function: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Detects speaker changes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Tags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transcript segments with speaker labels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Fallback to simple detector if token unavailable</a:t>
            </a:r>
          </a:p>
          <a:p>
            <a:pPr algn="just">
              <a:lnSpc>
                <a:spcPts val="4200"/>
              </a:lnSpc>
            </a:pP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22732" y="5725287"/>
          <a:ext cx="9473317" cy="3903550"/>
        </p:xfrm>
        <a:graphic>
          <a:graphicData uri="http://schemas.openxmlformats.org/drawingml/2006/table">
            <a:tbl>
              <a:tblPr/>
              <a:tblGrid>
                <a:gridCol w="9473317"/>
              </a:tblGrid>
              <a:tr h="3903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10473222" y="1028700"/>
            <a:ext cx="10401098" cy="8674070"/>
          </a:xfrm>
          <a:custGeom>
            <a:avLst/>
            <a:gdLst/>
            <a:ahLst/>
            <a:cxnLst/>
            <a:rect r="r" b="b" t="t" l="l"/>
            <a:pathLst>
              <a:path h="8674070" w="10401098">
                <a:moveTo>
                  <a:pt x="0" y="0"/>
                </a:moveTo>
                <a:lnTo>
                  <a:pt x="10401098" y="0"/>
                </a:lnTo>
                <a:lnTo>
                  <a:pt x="10401098" y="8674070"/>
                </a:lnTo>
                <a:lnTo>
                  <a:pt x="0" y="867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9" r="-17390" b="-744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4162" y="647454"/>
            <a:ext cx="10030455" cy="79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REAL-TIME STT (MILESTONE 1)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4568" y="1487413"/>
            <a:ext cx="9868654" cy="31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audio_capture.py → captures live audio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realtime_stt.py → streams audio into Whisper model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Features: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Live transcription at 16 kHz sample rate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Supports different Whisper model sizes (tiny, base, etc.)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450964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3594" y="3697889"/>
            <a:ext cx="8060406" cy="40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Module: pipeline.py</a:t>
            </a:r>
          </a:p>
          <a:p>
            <a:pPr algn="just">
              <a:lnSpc>
                <a:spcPts val="4016"/>
              </a:lnSpc>
            </a:p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Combine STT → Diarization → Summarization and Handles recording flow &amp; post-processingManage error fallback and logs</a:t>
            </a:r>
          </a:p>
          <a:p>
            <a:pPr algn="just">
              <a:lnSpc>
                <a:spcPts val="4016"/>
              </a:lnSpc>
            </a:p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Result: One-click meeting processing</a:t>
            </a:r>
          </a:p>
          <a:p>
            <a:pPr algn="just">
              <a:lnSpc>
                <a:spcPts val="401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652189" y="2272982"/>
            <a:ext cx="8983621" cy="79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b="true" sz="540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MILESTONE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61110" y="3697889"/>
            <a:ext cx="7795253" cy="40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Module: streamlit_app.py</a:t>
            </a:r>
          </a:p>
          <a:p>
            <a:pPr algn="just">
              <a:lnSpc>
                <a:spcPts val="4016"/>
              </a:lnSpc>
            </a:p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Modern, interactive web UI, Start/Stop recording buttons with Real-time transcript updates. Auto-generated summary displayed</a:t>
            </a:r>
          </a:p>
          <a:p>
            <a:pPr algn="just">
              <a:lnSpc>
                <a:spcPts val="4016"/>
              </a:lnSpc>
            </a:pPr>
          </a:p>
          <a:p>
            <a:pPr algn="just">
              <a:lnSpc>
                <a:spcPts val="4016"/>
              </a:lnSpc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-Option to export or email.</a:t>
            </a:r>
          </a:p>
          <a:p>
            <a:pPr algn="just">
              <a:lnSpc>
                <a:spcPts val="4016"/>
              </a:lnSpc>
            </a:pP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01118" y="3596710"/>
          <a:ext cx="8969756" cy="3903550"/>
        </p:xfrm>
        <a:graphic>
          <a:graphicData uri="http://schemas.openxmlformats.org/drawingml/2006/table">
            <a:tbl>
              <a:tblPr/>
              <a:tblGrid>
                <a:gridCol w="8969756"/>
              </a:tblGrid>
              <a:tr h="3903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569650" y="3596710"/>
          <a:ext cx="8370279" cy="3903550"/>
        </p:xfrm>
        <a:graphic>
          <a:graphicData uri="http://schemas.openxmlformats.org/drawingml/2006/table">
            <a:tbl>
              <a:tblPr/>
              <a:tblGrid>
                <a:gridCol w="8370279"/>
              </a:tblGrid>
              <a:tr h="3903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7391" y="1456965"/>
            <a:ext cx="17021909" cy="8149239"/>
          </a:xfrm>
          <a:custGeom>
            <a:avLst/>
            <a:gdLst/>
            <a:ahLst/>
            <a:cxnLst/>
            <a:rect r="r" b="b" t="t" l="l"/>
            <a:pathLst>
              <a:path h="8149239" w="17021909">
                <a:moveTo>
                  <a:pt x="0" y="0"/>
                </a:moveTo>
                <a:lnTo>
                  <a:pt x="17021909" y="0"/>
                </a:lnTo>
                <a:lnTo>
                  <a:pt x="17021909" y="8149239"/>
                </a:lnTo>
                <a:lnTo>
                  <a:pt x="0" y="814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7391" y="260761"/>
            <a:ext cx="10135981" cy="932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5"/>
              </a:lnSpc>
            </a:pPr>
            <a:r>
              <a:rPr lang="en-US" b="true" sz="63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 : DASHBOARD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91" y="260761"/>
            <a:ext cx="10135981" cy="932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5"/>
              </a:lnSpc>
            </a:pPr>
            <a:r>
              <a:rPr lang="en-US" b="true" sz="63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 : DASHBOARD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7391" y="1353013"/>
            <a:ext cx="17866351" cy="8665180"/>
          </a:xfrm>
          <a:custGeom>
            <a:avLst/>
            <a:gdLst/>
            <a:ahLst/>
            <a:cxnLst/>
            <a:rect r="r" b="b" t="t" l="l"/>
            <a:pathLst>
              <a:path h="8665180" w="17866351">
                <a:moveTo>
                  <a:pt x="0" y="0"/>
                </a:moveTo>
                <a:lnTo>
                  <a:pt x="17866351" y="0"/>
                </a:lnTo>
                <a:lnTo>
                  <a:pt x="17866351" y="8665180"/>
                </a:lnTo>
                <a:lnTo>
                  <a:pt x="0" y="866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5472" y="1950293"/>
            <a:ext cx="3951603" cy="5747786"/>
          </a:xfrm>
          <a:custGeom>
            <a:avLst/>
            <a:gdLst/>
            <a:ahLst/>
            <a:cxnLst/>
            <a:rect r="r" b="b" t="t" l="l"/>
            <a:pathLst>
              <a:path h="5747786" w="3951603">
                <a:moveTo>
                  <a:pt x="0" y="0"/>
                </a:moveTo>
                <a:lnTo>
                  <a:pt x="3951603" y="0"/>
                </a:lnTo>
                <a:lnTo>
                  <a:pt x="3951603" y="5747787"/>
                </a:lnTo>
                <a:lnTo>
                  <a:pt x="0" y="5747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12296" y="7374577"/>
            <a:ext cx="647004" cy="647004"/>
          </a:xfrm>
          <a:custGeom>
            <a:avLst/>
            <a:gdLst/>
            <a:ahLst/>
            <a:cxnLst/>
            <a:rect r="r" b="b" t="t" l="l"/>
            <a:pathLst>
              <a:path h="647004" w="647004">
                <a:moveTo>
                  <a:pt x="0" y="0"/>
                </a:moveTo>
                <a:lnTo>
                  <a:pt x="647004" y="0"/>
                </a:lnTo>
                <a:lnTo>
                  <a:pt x="647004" y="647005"/>
                </a:lnTo>
                <a:lnTo>
                  <a:pt x="0" y="647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36641" y="520411"/>
            <a:ext cx="7103388" cy="102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14"/>
              </a:lnSpc>
            </a:pPr>
            <a:r>
              <a:rPr lang="en-US" b="true" sz="700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6240" y="2445181"/>
            <a:ext cx="12595521" cy="394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Integrate with Google Meet / Zoom APIs</a:t>
            </a:r>
          </a:p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Add multilingual support</a:t>
            </a:r>
          </a:p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Include sentiment analysis</a:t>
            </a:r>
          </a:p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Create mobile-friendly web app</a:t>
            </a:r>
          </a:p>
          <a:p>
            <a:pPr algn="ctr">
              <a:lnSpc>
                <a:spcPts val="63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5472" y="6973469"/>
            <a:ext cx="17117567" cy="15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AI Meeting Summarizer bridges the gap between communication and documentation saving time and improving meeting productivity.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1798493"/>
            <a:ext cx="6941783" cy="12795913"/>
          </a:xfrm>
          <a:custGeom>
            <a:avLst/>
            <a:gdLst/>
            <a:ahLst/>
            <a:cxnLst/>
            <a:rect r="r" b="b" t="t" l="l"/>
            <a:pathLst>
              <a:path h="12795913" w="6941783">
                <a:moveTo>
                  <a:pt x="6941783" y="0"/>
                </a:moveTo>
                <a:lnTo>
                  <a:pt x="0" y="0"/>
                </a:lnTo>
                <a:lnTo>
                  <a:pt x="0" y="12795914"/>
                </a:lnTo>
                <a:lnTo>
                  <a:pt x="6941783" y="12795914"/>
                </a:lnTo>
                <a:lnTo>
                  <a:pt x="6941783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09304" y="525606"/>
            <a:ext cx="8669392" cy="104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TESTING &amp;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90005"/>
            <a:ext cx="16383266" cy="585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STT Accuracy: We expect transcription accuracy to be approximately 95% (Whisper Base model), corresponding to a Word Error Rate (WER) of less than 15.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Speaker Diarization: We anticipate approx. 85% correct speaker labeling, with the Diarization Error Rate (DER) targeted to be less than 20%.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Summarization Quality: The final summary must be logically coherent and structured, preserving speaker context, and achieving a ROUGE score of greater than 0.4%.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DAG4bNaLUS4</dc:identifier>
  <dcterms:modified xsi:type="dcterms:W3CDTF">2011-08-01T06:04:30Z</dcterms:modified>
  <cp:revision>1</cp:revision>
  <dc:title>INFOSYS AI VIRTUAL INTERNSHIP</dc:title>
</cp:coreProperties>
</file>