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Glacial Indifference Bold" panose="020B0604020202020204" charset="0"/>
      <p:regular r:id="rId15"/>
    </p:embeddedFont>
    <p:embeddedFont>
      <p:font typeface="HK Grotesk" panose="020B0604020202020204" charset="0"/>
      <p:regular r:id="rId16"/>
    </p:embeddedFont>
    <p:embeddedFont>
      <p:font typeface="HK Grotesk Bold" panose="020B0604020202020204" charset="0"/>
      <p:regular r:id="rId17"/>
    </p:embeddedFont>
    <p:embeddedFont>
      <p:font typeface="HK Grotesk Bold Italics" panose="020B0604020202020204" charset="0"/>
      <p:regular r:id="rId18"/>
    </p:embeddedFont>
    <p:embeddedFont>
      <p:font typeface="HK Grotesk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83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ashree Borkar" userId="57a223b2e3d52d73" providerId="LiveId" clId="{49D749B8-16AA-4607-8AB0-23966937C63C}"/>
    <pc:docChg chg="modSld">
      <pc:chgData name="Dhanashree Borkar" userId="57a223b2e3d52d73" providerId="LiveId" clId="{49D749B8-16AA-4607-8AB0-23966937C63C}" dt="2025-11-20T12:15:14.974" v="66" actId="20577"/>
      <pc:docMkLst>
        <pc:docMk/>
      </pc:docMkLst>
      <pc:sldChg chg="modSp mod">
        <pc:chgData name="Dhanashree Borkar" userId="57a223b2e3d52d73" providerId="LiveId" clId="{49D749B8-16AA-4607-8AB0-23966937C63C}" dt="2025-11-20T12:15:14.974" v="66" actId="20577"/>
        <pc:sldMkLst>
          <pc:docMk/>
          <pc:sldMk cId="0" sldId="260"/>
        </pc:sldMkLst>
        <pc:spChg chg="mod">
          <ac:chgData name="Dhanashree Borkar" userId="57a223b2e3d52d73" providerId="LiveId" clId="{49D749B8-16AA-4607-8AB0-23966937C63C}" dt="2025-11-20T12:04:44.825" v="14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Dhanashree Borkar" userId="57a223b2e3d52d73" providerId="LiveId" clId="{49D749B8-16AA-4607-8AB0-23966937C63C}" dt="2025-11-20T12:15:14.974" v="66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Dhanashree Borkar" userId="57a223b2e3d52d73" providerId="LiveId" clId="{49D749B8-16AA-4607-8AB0-23966937C63C}" dt="2025-11-20T12:04:49.509" v="16" actId="404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Dhanashree Borkar" userId="57a223b2e3d52d73" providerId="LiveId" clId="{49D749B8-16AA-4607-8AB0-23966937C63C}" dt="2025-11-20T12:05:09.013" v="53" actId="404"/>
        <pc:sldMkLst>
          <pc:docMk/>
          <pc:sldMk cId="0" sldId="261"/>
        </pc:sldMkLst>
        <pc:spChg chg="mod">
          <ac:chgData name="Dhanashree Borkar" userId="57a223b2e3d52d73" providerId="LiveId" clId="{49D749B8-16AA-4607-8AB0-23966937C63C}" dt="2025-11-20T12:05:09.013" v="53" actId="404"/>
          <ac:spMkLst>
            <pc:docMk/>
            <pc:sldMk cId="0" sldId="261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38336" y="-3273956"/>
            <a:ext cx="9611327" cy="13560956"/>
          </a:xfrm>
          <a:custGeom>
            <a:avLst/>
            <a:gdLst/>
            <a:ahLst/>
            <a:cxnLst/>
            <a:rect l="l" t="t" r="r" b="b"/>
            <a:pathLst>
              <a:path w="9611327" h="13560956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79732" y="1249774"/>
            <a:ext cx="6328535" cy="52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i="1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INFOSYS AI VIRTUAL INTERNSHIP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51632" y="2754251"/>
            <a:ext cx="8984736" cy="287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sz="10006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 MEETING SUMMARIZER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16061" y="6190816"/>
            <a:ext cx="4855878" cy="52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1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Dhanashree Borkar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7563" y="1028700"/>
            <a:ext cx="7270437" cy="7270437"/>
            <a:chOff x="0" y="0"/>
            <a:chExt cx="14840029" cy="14840029"/>
          </a:xfrm>
        </p:grpSpPr>
        <p:sp>
          <p:nvSpPr>
            <p:cNvPr id="5" name="Freeform 5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24712" r="-2471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579806" y="1066800"/>
            <a:ext cx="8239216" cy="892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6114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1265" y="2666592"/>
            <a:ext cx="10636298" cy="5230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Meetings generate hours of discussions, but most key points are lost or manually noted.</a:t>
            </a:r>
          </a:p>
          <a:p>
            <a:pPr algn="just">
              <a:lnSpc>
                <a:spcPts val="4147"/>
              </a:lnSpc>
            </a:pPr>
            <a:endParaRPr lang="en-US" sz="2962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Key Points:</a:t>
            </a:r>
          </a:p>
          <a:p>
            <a:pPr marL="639605" lvl="1" indent="-319803" algn="just">
              <a:lnSpc>
                <a:spcPts val="4147"/>
              </a:lnSpc>
              <a:buAutoNum type="arabicPeriod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Manual note-taking is time-consuming and inaccurate.</a:t>
            </a:r>
          </a:p>
          <a:p>
            <a:pPr algn="just">
              <a:lnSpc>
                <a:spcPts val="4147"/>
              </a:lnSpc>
            </a:pPr>
            <a:endParaRPr lang="en-US" sz="2962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2. Online meetings lack structured summaries.</a:t>
            </a:r>
          </a:p>
          <a:p>
            <a:pPr algn="just">
              <a:lnSpc>
                <a:spcPts val="4147"/>
              </a:lnSpc>
            </a:pPr>
            <a:endParaRPr lang="en-US" sz="2962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3. Organizations need automated meeting documentation.</a:t>
            </a:r>
          </a:p>
          <a:p>
            <a:pPr algn="just">
              <a:lnSpc>
                <a:spcPts val="4147"/>
              </a:lnSpc>
            </a:pPr>
            <a:endParaRPr lang="en-US" sz="2962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V="1">
            <a:off x="5887357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2500831" y="1028700"/>
            <a:ext cx="4956202" cy="8229600"/>
          </a:xfrm>
          <a:custGeom>
            <a:avLst/>
            <a:gdLst/>
            <a:ahLst/>
            <a:cxnLst/>
            <a:rect l="l" t="t" r="r" b="b"/>
            <a:pathLst>
              <a:path w="4956202" h="8229600">
                <a:moveTo>
                  <a:pt x="4956202" y="0"/>
                </a:moveTo>
                <a:lnTo>
                  <a:pt x="0" y="0"/>
                </a:lnTo>
                <a:lnTo>
                  <a:pt x="0" y="8229600"/>
                </a:lnTo>
                <a:lnTo>
                  <a:pt x="4956202" y="8229600"/>
                </a:lnTo>
                <a:lnTo>
                  <a:pt x="495620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34959" y="4495653"/>
            <a:ext cx="6819789" cy="1239962"/>
          </a:xfrm>
          <a:custGeom>
            <a:avLst/>
            <a:gdLst/>
            <a:ahLst/>
            <a:cxnLst/>
            <a:rect l="l" t="t" r="r" b="b"/>
            <a:pathLst>
              <a:path w="6819789" h="1239962">
                <a:moveTo>
                  <a:pt x="0" y="0"/>
                </a:moveTo>
                <a:lnTo>
                  <a:pt x="6819789" y="0"/>
                </a:lnTo>
                <a:lnTo>
                  <a:pt x="6819789" y="1239961"/>
                </a:lnTo>
                <a:lnTo>
                  <a:pt x="0" y="12399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179575" y="1112376"/>
            <a:ext cx="5330557" cy="1044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39"/>
              </a:lnSpc>
            </a:pPr>
            <a:r>
              <a:rPr lang="en-US" sz="7114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7056" y="2423363"/>
            <a:ext cx="10315595" cy="15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Build an AI-powered system that records speech, identifies speakers, transcribes the conversation, and generates concise summaries automatically.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89309" y="4848233"/>
            <a:ext cx="6311090" cy="52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Real-time Speech-to-Text conversion</a:t>
            </a:r>
          </a:p>
        </p:txBody>
      </p:sp>
      <p:sp>
        <p:nvSpPr>
          <p:cNvPr id="9" name="Freeform 9"/>
          <p:cNvSpPr/>
          <p:nvPr/>
        </p:nvSpPr>
        <p:spPr>
          <a:xfrm>
            <a:off x="9434959" y="6221389"/>
            <a:ext cx="6819789" cy="1239962"/>
          </a:xfrm>
          <a:custGeom>
            <a:avLst/>
            <a:gdLst/>
            <a:ahLst/>
            <a:cxnLst/>
            <a:rect l="l" t="t" r="r" b="b"/>
            <a:pathLst>
              <a:path w="6819789" h="1239962">
                <a:moveTo>
                  <a:pt x="0" y="0"/>
                </a:moveTo>
                <a:lnTo>
                  <a:pt x="6819789" y="0"/>
                </a:lnTo>
                <a:lnTo>
                  <a:pt x="6819789" y="1239962"/>
                </a:lnTo>
                <a:lnTo>
                  <a:pt x="0" y="1239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434959" y="7736703"/>
            <a:ext cx="6819789" cy="1239962"/>
          </a:xfrm>
          <a:custGeom>
            <a:avLst/>
            <a:gdLst/>
            <a:ahLst/>
            <a:cxnLst/>
            <a:rect l="l" t="t" r="r" b="b"/>
            <a:pathLst>
              <a:path w="6819789" h="1239962">
                <a:moveTo>
                  <a:pt x="0" y="0"/>
                </a:moveTo>
                <a:lnTo>
                  <a:pt x="6819789" y="0"/>
                </a:lnTo>
                <a:lnTo>
                  <a:pt x="6819789" y="1239962"/>
                </a:lnTo>
                <a:lnTo>
                  <a:pt x="0" y="1239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179575" y="6573814"/>
            <a:ext cx="6062771" cy="52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AI-based meeting summarization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65068" y="8061418"/>
            <a:ext cx="5759571" cy="52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Export summary via email or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28700" y="1778667"/>
          <a:ext cx="15707875" cy="7944760"/>
        </p:xfrm>
        <a:graphic>
          <a:graphicData uri="http://schemas.openxmlformats.org/drawingml/2006/table">
            <a:tbl>
              <a:tblPr/>
              <a:tblGrid>
                <a:gridCol w="8115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1381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Tools / Libraries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086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Programming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Python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086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Speaker Diarization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Pyannote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086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STT Engine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OpenAI Whisper, Vosk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086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Speaker Diarization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Pyannote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4086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Summarization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Groq API, Hugging 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4086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Backend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Custom Python pipeline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38863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Environment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Virtualenv (.venv)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3087559" y="278777"/>
            <a:ext cx="12112883" cy="1044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7114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TOOLS AND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V="1">
            <a:off x="5887357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22732" y="1438521"/>
          <a:ext cx="9473317" cy="3184178"/>
        </p:xfrm>
        <a:graphic>
          <a:graphicData uri="http://schemas.openxmlformats.org/drawingml/2006/table">
            <a:tbl>
              <a:tblPr/>
              <a:tblGrid>
                <a:gridCol w="9473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8417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-472773" y="4931774"/>
            <a:ext cx="11464326" cy="6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4"/>
              </a:lnSpc>
            </a:pPr>
            <a:r>
              <a:rPr lang="en-US" sz="40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SPEAKER DIARIZATION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568" y="5280262"/>
            <a:ext cx="10426289" cy="4257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endParaRPr/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speaker_identifier.py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pyannote.audio integration</a:t>
            </a:r>
          </a:p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Function: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Detects speaker changes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Tags transcript segments with speaker labels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Fallback to simple detector if token unavailable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22732" y="5725287"/>
          <a:ext cx="9473317" cy="3903550"/>
        </p:xfrm>
        <a:graphic>
          <a:graphicData uri="http://schemas.openxmlformats.org/drawingml/2006/table">
            <a:tbl>
              <a:tblPr/>
              <a:tblGrid>
                <a:gridCol w="9473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35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>
            <a:off x="10473222" y="1028700"/>
            <a:ext cx="10401098" cy="8674070"/>
          </a:xfrm>
          <a:custGeom>
            <a:avLst/>
            <a:gdLst/>
            <a:ahLst/>
            <a:cxnLst/>
            <a:rect l="l" t="t" r="r" b="b"/>
            <a:pathLst>
              <a:path w="10401098" h="8674070">
                <a:moveTo>
                  <a:pt x="0" y="0"/>
                </a:moveTo>
                <a:lnTo>
                  <a:pt x="10401098" y="0"/>
                </a:lnTo>
                <a:lnTo>
                  <a:pt x="10401098" y="8674070"/>
                </a:lnTo>
                <a:lnTo>
                  <a:pt x="0" y="8674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449" r="-17390" b="-744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4162" y="647454"/>
            <a:ext cx="10030455" cy="74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8"/>
              </a:lnSpc>
            </a:pPr>
            <a:r>
              <a:rPr lang="en-US" sz="48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REAL-TIME STT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4568" y="1487413"/>
            <a:ext cx="9868654" cy="319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audio_capture.py → captures live audio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realtime_stt.py → streams audio into Whisper model</a:t>
            </a:r>
          </a:p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Features: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Live transcription at 16 kHz sample rate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Supports different Whisper model sizes (tiny, base, etc.)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1637" y="-450964"/>
            <a:ext cx="17024727" cy="10737964"/>
          </a:xfrm>
          <a:custGeom>
            <a:avLst/>
            <a:gdLst/>
            <a:ahLst/>
            <a:cxnLst/>
            <a:rect l="l" t="t" r="r" b="b"/>
            <a:pathLst>
              <a:path w="17024727" h="10737964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69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83594" y="3697889"/>
            <a:ext cx="8060406" cy="4032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Module: pipeline.py</a:t>
            </a:r>
          </a:p>
          <a:p>
            <a:pPr algn="just">
              <a:lnSpc>
                <a:spcPts val="4016"/>
              </a:lnSpc>
            </a:pPr>
            <a:endParaRPr lang="en-US" sz="2868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Combine STT → Diarization → Summarization and Handles recording flow &amp; post-processingManage error fallback and logs</a:t>
            </a:r>
          </a:p>
          <a:p>
            <a:pPr algn="just">
              <a:lnSpc>
                <a:spcPts val="4016"/>
              </a:lnSpc>
            </a:pPr>
            <a:endParaRPr lang="en-US" sz="2868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Result: One-click meeting processing</a:t>
            </a:r>
          </a:p>
          <a:p>
            <a:pPr algn="just">
              <a:lnSpc>
                <a:spcPts val="4016"/>
              </a:lnSpc>
            </a:pPr>
            <a:endParaRPr lang="en-US" sz="2868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52189" y="2272982"/>
            <a:ext cx="8983621" cy="74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8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INTEGRATION AND UI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61110" y="3697889"/>
            <a:ext cx="7795253" cy="4032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Module: streamlit_app.py</a:t>
            </a:r>
          </a:p>
          <a:p>
            <a:pPr algn="just">
              <a:lnSpc>
                <a:spcPts val="4016"/>
              </a:lnSpc>
            </a:pPr>
            <a:endParaRPr lang="en-US" sz="2868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Modern, interactive web UI, Start/Stop recording buttons with Real-time transcript updates. Auto-generated summary displayed</a:t>
            </a:r>
          </a:p>
          <a:p>
            <a:pPr algn="just">
              <a:lnSpc>
                <a:spcPts val="4016"/>
              </a:lnSpc>
            </a:pPr>
            <a:endParaRPr lang="en-US" sz="2868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-Option to export or email.</a:t>
            </a:r>
          </a:p>
          <a:p>
            <a:pPr algn="just">
              <a:lnSpc>
                <a:spcPts val="4016"/>
              </a:lnSpc>
            </a:pPr>
            <a:endParaRPr lang="en-US" sz="2868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01118" y="3596710"/>
          <a:ext cx="8969756" cy="3903550"/>
        </p:xfrm>
        <a:graphic>
          <a:graphicData uri="http://schemas.openxmlformats.org/drawingml/2006/table">
            <a:tbl>
              <a:tblPr/>
              <a:tblGrid>
                <a:gridCol w="8969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35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569650" y="3596710"/>
          <a:ext cx="8370279" cy="3903550"/>
        </p:xfrm>
        <a:graphic>
          <a:graphicData uri="http://schemas.openxmlformats.org/drawingml/2006/table">
            <a:tbl>
              <a:tblPr/>
              <a:tblGrid>
                <a:gridCol w="8370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35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7391" y="1456965"/>
            <a:ext cx="17021909" cy="8149239"/>
          </a:xfrm>
          <a:custGeom>
            <a:avLst/>
            <a:gdLst/>
            <a:ahLst/>
            <a:cxnLst/>
            <a:rect l="l" t="t" r="r" b="b"/>
            <a:pathLst>
              <a:path w="17021909" h="8149239">
                <a:moveTo>
                  <a:pt x="0" y="0"/>
                </a:moveTo>
                <a:lnTo>
                  <a:pt x="17021909" y="0"/>
                </a:lnTo>
                <a:lnTo>
                  <a:pt x="17021909" y="8149239"/>
                </a:lnTo>
                <a:lnTo>
                  <a:pt x="0" y="8149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7391" y="260761"/>
            <a:ext cx="10135981" cy="93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5"/>
              </a:lnSpc>
            </a:pPr>
            <a:r>
              <a:rPr lang="en-US" sz="6314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 : DASHBOARD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7391" y="260761"/>
            <a:ext cx="10135981" cy="93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5"/>
              </a:lnSpc>
            </a:pPr>
            <a:r>
              <a:rPr lang="en-US" sz="6314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 : DASHBOARD </a:t>
            </a:r>
          </a:p>
        </p:txBody>
      </p:sp>
      <p:sp>
        <p:nvSpPr>
          <p:cNvPr id="5" name="Freeform 5"/>
          <p:cNvSpPr/>
          <p:nvPr/>
        </p:nvSpPr>
        <p:spPr>
          <a:xfrm>
            <a:off x="237391" y="1353013"/>
            <a:ext cx="17866351" cy="8665180"/>
          </a:xfrm>
          <a:custGeom>
            <a:avLst/>
            <a:gdLst/>
            <a:ahLst/>
            <a:cxnLst/>
            <a:rect l="l" t="t" r="r" b="b"/>
            <a:pathLst>
              <a:path w="17866351" h="8665180">
                <a:moveTo>
                  <a:pt x="0" y="0"/>
                </a:moveTo>
                <a:lnTo>
                  <a:pt x="17866351" y="0"/>
                </a:lnTo>
                <a:lnTo>
                  <a:pt x="17866351" y="8665180"/>
                </a:lnTo>
                <a:lnTo>
                  <a:pt x="0" y="8665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V="1">
            <a:off x="5887357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75472" y="1950293"/>
            <a:ext cx="3951603" cy="5747786"/>
          </a:xfrm>
          <a:custGeom>
            <a:avLst/>
            <a:gdLst/>
            <a:ahLst/>
            <a:cxnLst/>
            <a:rect l="l" t="t" r="r" b="b"/>
            <a:pathLst>
              <a:path w="3951603" h="5747786">
                <a:moveTo>
                  <a:pt x="0" y="0"/>
                </a:moveTo>
                <a:lnTo>
                  <a:pt x="3951603" y="0"/>
                </a:lnTo>
                <a:lnTo>
                  <a:pt x="3951603" y="5747787"/>
                </a:lnTo>
                <a:lnTo>
                  <a:pt x="0" y="5747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612296" y="7374577"/>
            <a:ext cx="647004" cy="647004"/>
          </a:xfrm>
          <a:custGeom>
            <a:avLst/>
            <a:gdLst/>
            <a:ahLst/>
            <a:cxnLst/>
            <a:rect l="l" t="t" r="r" b="b"/>
            <a:pathLst>
              <a:path w="647004" h="647004">
                <a:moveTo>
                  <a:pt x="0" y="0"/>
                </a:moveTo>
                <a:lnTo>
                  <a:pt x="647004" y="0"/>
                </a:lnTo>
                <a:lnTo>
                  <a:pt x="647004" y="647005"/>
                </a:lnTo>
                <a:lnTo>
                  <a:pt x="0" y="647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736641" y="520411"/>
            <a:ext cx="7103388" cy="102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14"/>
              </a:lnSpc>
            </a:pPr>
            <a:r>
              <a:rPr lang="en-US" sz="7004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46240" y="2445181"/>
            <a:ext cx="12595521" cy="394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Integrate with Google Meet / Zoom APIs</a:t>
            </a:r>
          </a:p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Add multilingual support</a:t>
            </a:r>
          </a:p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Include sentiment analysis</a:t>
            </a:r>
          </a:p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Create mobile-friendly web app</a:t>
            </a:r>
          </a:p>
          <a:p>
            <a:pPr algn="ctr">
              <a:lnSpc>
                <a:spcPts val="6300"/>
              </a:lnSpc>
            </a:pPr>
            <a:endParaRPr lang="en-US" sz="350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75472" y="6973469"/>
            <a:ext cx="17117567" cy="154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AI Meeting Summarizer bridges the gap between communication and documentation saving time and improving meeting productivity.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V="1">
            <a:off x="5887357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0" y="1798493"/>
            <a:ext cx="6941783" cy="12795913"/>
          </a:xfrm>
          <a:custGeom>
            <a:avLst/>
            <a:gdLst/>
            <a:ahLst/>
            <a:cxnLst/>
            <a:rect l="l" t="t" r="r" b="b"/>
            <a:pathLst>
              <a:path w="6941783" h="12795913">
                <a:moveTo>
                  <a:pt x="6941783" y="0"/>
                </a:moveTo>
                <a:lnTo>
                  <a:pt x="0" y="0"/>
                </a:lnTo>
                <a:lnTo>
                  <a:pt x="0" y="12795914"/>
                </a:lnTo>
                <a:lnTo>
                  <a:pt x="6941783" y="12795914"/>
                </a:lnTo>
                <a:lnTo>
                  <a:pt x="6941783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09304" y="525606"/>
            <a:ext cx="8669392" cy="1044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039"/>
              </a:lnSpc>
            </a:pPr>
            <a:r>
              <a:rPr lang="en-US" sz="7114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TESTING &amp; RESULTS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490005"/>
            <a:ext cx="16383266" cy="585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STT Accuracy: We expect transcription accuracy to be approximately 95% (Whisper Base model), corresponding to a Word Error Rate (WER) of less than 15.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702" lvl="1" indent="-323851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Speaker Diarization: We anticipate approx. 85% correct speaker labeling, with the Diarization Error Rate (DER) targeted to be less than 20%.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702" lvl="1" indent="-323851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Summarization Quality: The final summary must be logically coherent and structured, preserving speaker context, and achieving a ROUGE score of greater than 0.4%.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38336" y="-3273956"/>
            <a:ext cx="9611327" cy="13560956"/>
          </a:xfrm>
          <a:custGeom>
            <a:avLst/>
            <a:gdLst/>
            <a:ahLst/>
            <a:cxnLst/>
            <a:rect l="l" t="t" r="r" b="b"/>
            <a:pathLst>
              <a:path w="9611327" h="13560956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51632" y="4171798"/>
            <a:ext cx="8984736" cy="1451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sz="10006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Custom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HK Grotesk</vt:lpstr>
      <vt:lpstr>HK Grotesk Italics</vt:lpstr>
      <vt:lpstr>Calibri</vt:lpstr>
      <vt:lpstr>HK Grotesk Bold Italics</vt:lpstr>
      <vt:lpstr>Arial</vt:lpstr>
      <vt:lpstr>HK Grotesk Bold</vt:lpstr>
      <vt:lpstr>Canva Sans</vt:lpstr>
      <vt:lpstr>Glacial Indifference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INFOSYS AI VIRTUAL INTERNSHIP</dc:title>
  <cp:lastModifiedBy>Dhanashree Borkar</cp:lastModifiedBy>
  <cp:revision>1</cp:revision>
  <dcterms:created xsi:type="dcterms:W3CDTF">2006-08-16T00:00:00Z</dcterms:created>
  <dcterms:modified xsi:type="dcterms:W3CDTF">2025-11-20T12:15:21Z</dcterms:modified>
  <dc:identifier>DAG4bNaLUS4</dc:identifier>
</cp:coreProperties>
</file>